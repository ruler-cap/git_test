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EFA36-24A9-6CA2-235E-0BE5CD93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74AE24-834F-E302-CFF8-7EAF8F906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2D8A8-4F57-47D1-A182-A948A1A7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6CCA73-4A53-524B-FFA7-FCC11AB6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CB0C7-8BCD-FAC0-2393-BB04392F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68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31F00-D849-3794-7E47-45CEF6ED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46229-D788-071C-40D4-908D9900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D9BB1-382B-5B42-3D42-BCFE82D9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5E464-37A0-12DB-9820-FEE18B92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876610-731E-2B7F-3A8C-A4C6DE95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8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52320-C74F-17A6-8B3B-DFD06BAB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2AB3E1-EEA6-C16B-C6C9-BCC4A360E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D9C0B9-2E82-E090-B395-5EAE92E2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0C0B7-BF0D-43E3-C69B-0B7308E5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110C7-6E94-850C-1B38-DFE03C79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74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CC5A9-56D3-E476-4AAF-6A33F67B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C7CE2F-6CB5-68F9-B6BD-2AAD406AC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41F31B-3AB8-EFA0-0FD7-B05A31C48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51B2FF-7F31-DE77-B521-9F83F47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489FBD-4AF3-BD18-28CE-C2B991E9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86B316-0F24-E951-02D0-4E8448B6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7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6C781-4209-4133-9DB1-D0CA5580E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C1A6F-0B58-EDAA-3014-72235E9C0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B6B799-6F41-5D71-6A3C-63B254123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A99498-809C-611B-99FD-E3D791D75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CC4C27-F090-D314-1FB5-8C55CA848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91E719-1A89-4885-DD1F-9E3D6228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869990-8A55-6A1E-0ACC-84E87D5D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FD82B4-3117-29A3-364E-6C7DF45F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DED9C-67B7-F585-71BC-4D5A52A5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59BC04-0B3B-F20B-7012-A785EA0D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BB2850-E221-5DB0-A680-AEAFAAB9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B9E1C3-2787-AB33-BB1A-0945C62C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40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B6A21F-53AA-32AF-1436-78B7D4F6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17ACA3-D73A-393D-7401-6D91DE54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384FFF-397B-16EE-D256-65B43254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8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DF9D7-7D09-1D5C-C7D5-166078FE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B43DB2-722E-BB47-F7AC-650A2E2A7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529633-23F9-2363-AA50-267523297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34DD2F-2FD5-2624-A0FA-5121E6EA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8F3A4-AD36-3C9B-5CC5-73EABE91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5A6560-939E-3F37-DEE9-340DC3B8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58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07490-A9A6-32DE-082D-7CEF8754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D5EE83-4596-DB87-4B6A-1D470DBB3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64260A-A270-1AD0-B313-B3359785D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029CE1-B610-CD83-BE0C-063D86D8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24220E-E00E-3A12-FE24-C9978995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62620E-3AA8-26C5-A3E8-357C1B9B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16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1DB48-987C-0ADC-0F85-972AB168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6D8106-B237-0537-6E58-4C34A03FA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CA5F1-705A-6A4A-20B8-31A0F7C7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92E3D-5660-71A2-A436-386F8849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691C7-72A9-A25B-7388-F46F9591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399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1A601D-7DC3-EC66-2EC9-BCA1C7BCA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B4AF68-FF30-C22C-3517-CA223BEAD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9ECA3F-F5D2-48C2-52F7-8B7F7B6A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52C2E-212F-F053-DD60-28D783CD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704C6-77EE-BA08-525B-045A1A32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2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E54318-E56F-E9E4-B12D-4F57451E7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083D5-BEF8-E7F9-8946-A87317E03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AA5D7-29A6-3AB8-2CB5-F917007D7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F7242-F00F-40FC-B28D-72BBE945210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ED886-F9A0-4AB5-BF1A-269308235E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47711-9CA3-56CD-AED8-783810F59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695C4-7DF9-4EC1-AF7D-5D58405C3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51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EC4111-71E5-0AF1-81A3-9D12D6650825}"/>
              </a:ext>
            </a:extLst>
          </p:cNvPr>
          <p:cNvSpPr txBox="1"/>
          <p:nvPr/>
        </p:nvSpPr>
        <p:spPr>
          <a:xfrm>
            <a:off x="276726" y="164078"/>
            <a:ext cx="11780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几何基元与包围体表示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dirty="0"/>
              <a:t>球体 / 胶囊体 / 轴对齐包围盒</a:t>
            </a:r>
            <a:r>
              <a:rPr lang="zh-CN" altLang="en-US" sz="2000" dirty="0"/>
              <a:t>（</a:t>
            </a:r>
            <a:r>
              <a:rPr lang="en-US" altLang="zh-CN" sz="2000" dirty="0"/>
              <a:t>AABB/OBB</a:t>
            </a:r>
            <a:r>
              <a:rPr lang="zh-CN" altLang="en-US" sz="2000" dirty="0"/>
              <a:t>）    </a:t>
            </a:r>
            <a:r>
              <a:rPr lang="en-US" altLang="zh-CN" sz="2000" dirty="0"/>
              <a:t>AABB</a:t>
            </a:r>
            <a:r>
              <a:rPr lang="zh-CN" altLang="en-US" sz="2000" dirty="0"/>
              <a:t>：与世界坐标轴对齐     </a:t>
            </a:r>
            <a:r>
              <a:rPr lang="en-US" altLang="zh-CN" sz="2000" dirty="0"/>
              <a:t>OBB</a:t>
            </a:r>
            <a:r>
              <a:rPr lang="zh-CN" altLang="en-US" sz="2000" dirty="0"/>
              <a:t>：与物体局部坐标对齐</a:t>
            </a:r>
            <a:endParaRPr lang="en-US" altLang="zh-CN" sz="2000" dirty="0"/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E08310-0A66-C907-DF52-45FD05D40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30" y="1086143"/>
            <a:ext cx="6838095" cy="23428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E38178-F7FE-81BC-A6BF-1F28F6E825D7}"/>
              </a:ext>
            </a:extLst>
          </p:cNvPr>
          <p:cNvSpPr txBox="1"/>
          <p:nvPr/>
        </p:nvSpPr>
        <p:spPr>
          <a:xfrm>
            <a:off x="157478" y="3220099"/>
            <a:ext cx="11780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直接用物体的复杂网格做精确碰撞检测太耗时。引擎通常会先用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AABB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过滤掉绝大多数没挨着的物体，只对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AABB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相交的物体进行精确的三角形级碰撞计算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CB5569-22BA-4B74-5C36-FBC1F5F0E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09" y="4444555"/>
            <a:ext cx="4943911" cy="17773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628472-3734-DE3C-37CC-4D678E666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731" y="4096427"/>
            <a:ext cx="4146060" cy="24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A282-9EF0-9A69-CE0B-E4B43632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6E92FF-B1BF-B49F-E02A-B1483AAC02A1}"/>
              </a:ext>
            </a:extLst>
          </p:cNvPr>
          <p:cNvSpPr txBox="1"/>
          <p:nvPr/>
        </p:nvSpPr>
        <p:spPr>
          <a:xfrm>
            <a:off x="276726" y="164078"/>
            <a:ext cx="2012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空间离散表示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栅格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BF69F1-218A-28A4-B551-6AC628623DE8}"/>
              </a:ext>
            </a:extLst>
          </p:cNvPr>
          <p:cNvSpPr txBox="1"/>
          <p:nvPr/>
        </p:nvSpPr>
        <p:spPr>
          <a:xfrm>
            <a:off x="276726" y="979040"/>
            <a:ext cx="107671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八叉树：基于八叉树（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Octree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）数据结构对体素网格进行递归压缩。如果一个大立方体内部全为空闲或全被占据，则合并为一个节点；只有存在边界时才向下细分。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大幅节省内存：在大片空白空间（如大屏空气）或大块障碍物内部压缩率高达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90%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以上。支持动态分辨率：可根据需要逐级查询。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索引查询延迟稍高：从根节点树状查找遍历的时间复杂度为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 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$D$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为树深度），比直接数组查询略慢。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2337C2-56CA-E667-BEDA-EB13301E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99" y="4090737"/>
            <a:ext cx="3180821" cy="21927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30BF6B-5369-28AE-6BBE-79EF69025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50" y="3874550"/>
            <a:ext cx="3832414" cy="240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4A5E-45CD-9C93-164C-0D4A1BE1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487E6E-DC9A-6DCD-7D1B-2246D2C04CCD}"/>
              </a:ext>
            </a:extLst>
          </p:cNvPr>
          <p:cNvSpPr txBox="1"/>
          <p:nvPr/>
        </p:nvSpPr>
        <p:spPr>
          <a:xfrm>
            <a:off x="276726" y="164078"/>
            <a:ext cx="2012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显示结构表征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F81E66-BB27-74CE-B4EA-80CE4811BFBF}"/>
              </a:ext>
            </a:extLst>
          </p:cNvPr>
          <p:cNvSpPr txBox="1"/>
          <p:nvPr/>
        </p:nvSpPr>
        <p:spPr>
          <a:xfrm>
            <a:off x="276725" y="830314"/>
            <a:ext cx="116615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雷达或者深度相机的 原始点云，利用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K-d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树或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结构进行组织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保留最高真实几何细节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构建无延迟：无需体素化建图过程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，传感器数据可直接推入内存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检测效率受点云数量影响     只能记录哪里有障碍，无法区分</a:t>
            </a:r>
            <a:r>
              <a:rPr lang="zh-CN" alt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“哪里是没有障碍”还是“没有被观测到的未知区域”</a:t>
            </a:r>
            <a:endParaRPr lang="en-US" altLang="zh-CN" sz="2000" dirty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F4F321-A25B-3DDF-B049-A47C7F6C042A}"/>
              </a:ext>
            </a:extLst>
          </p:cNvPr>
          <p:cNvSpPr txBox="1"/>
          <p:nvPr/>
        </p:nvSpPr>
        <p:spPr>
          <a:xfrm>
            <a:off x="276725" y="3216796"/>
            <a:ext cx="11661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三角网格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990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AD79-F298-21E3-933D-91EE32A7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540771-62D9-F5C5-FF88-7A69BCE7FF46}"/>
              </a:ext>
            </a:extLst>
          </p:cNvPr>
          <p:cNvSpPr txBox="1"/>
          <p:nvPr/>
        </p:nvSpPr>
        <p:spPr>
          <a:xfrm>
            <a:off x="265228" y="240611"/>
            <a:ext cx="11638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隐式连续距离场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不仅记录“是否碰撞”，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还能隐式表征“距离障碍物有多远”以及“向哪个方向推开能最快避障”（有梯度）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C78CC-1F98-7971-79E7-1E107AF618BA}"/>
              </a:ext>
            </a:extLst>
          </p:cNvPr>
          <p:cNvSpPr txBox="1"/>
          <p:nvPr/>
        </p:nvSpPr>
        <p:spPr>
          <a:xfrm>
            <a:off x="265229" y="1490008"/>
            <a:ext cx="1166154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ESDF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将空间网格化，每个网格单元存储“该点坐标到最近障碍物表面的精确欧氏距离”及梯度方向（障碍物内部为负，外部为正）。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极速查询与梯度支持：查询距离为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，并且能直接提供连续可导的距离梯度，是基于梯度的轨迹优化算法（如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CHOMP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）的理想输入。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支持设定安全裕度：非常容易做膨胀（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Inflation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）与碰撞距离惩罚项计算。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构建非常耗算力：从点云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体素实时更新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ESDF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场需要耗费大量的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CPU/GPU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计算资源（通常需要专门的波前传播算法或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加速，如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Voxblox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nvblox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内存开销极大：需要为每一个体素存储额外的浮点距离与梯度向量。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486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3594-7441-DF36-1BA6-92C0BAD1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EAE07C-9BD8-C2E3-C128-E248FBDC8921}"/>
              </a:ext>
            </a:extLst>
          </p:cNvPr>
          <p:cNvSpPr txBox="1"/>
          <p:nvPr/>
        </p:nvSpPr>
        <p:spPr>
          <a:xfrm>
            <a:off x="265228" y="240611"/>
            <a:ext cx="11638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隐式连续距离场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不仅记录“是否碰撞”，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还能隐式表征“距离障碍物有多远”以及“向哪个方向推开能最快避障”（有梯度）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F19D2B-FDE4-76FE-5632-33C7B5B47D56}"/>
              </a:ext>
            </a:extLst>
          </p:cNvPr>
          <p:cNvSpPr txBox="1"/>
          <p:nvPr/>
        </p:nvSpPr>
        <p:spPr>
          <a:xfrm>
            <a:off x="265229" y="1490008"/>
            <a:ext cx="116615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局部隐式表征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EGO-planner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放弃构建全局显式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ESDF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，仅在局部规划窗口内，将碰撞轨迹上的控制点与传感器点云直接建立几何推斥约束（如基于线段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控制点距离判断）。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极低内存与极快速度：免去了维护全局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ESDF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地图的庞大开销，使计算频率提升至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30~50 Hz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仅适用于局部动态避障，无法提供长距离全局地图信息。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065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A83A-7A48-C0FF-AADF-282EC431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A60888-8AC1-596D-EDB5-F90BB4B936CC}"/>
              </a:ext>
            </a:extLst>
          </p:cNvPr>
          <p:cNvSpPr txBox="1"/>
          <p:nvPr/>
        </p:nvSpPr>
        <p:spPr>
          <a:xfrm>
            <a:off x="265228" y="240611"/>
            <a:ext cx="1163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ESDF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91D43F8-2D55-C0D4-2CBF-4DE176F24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09594"/>
              </p:ext>
            </p:extLst>
          </p:nvPr>
        </p:nvGraphicFramePr>
        <p:xfrm>
          <a:off x="1503947" y="929480"/>
          <a:ext cx="8812724" cy="3632786"/>
        </p:xfrm>
        <a:graphic>
          <a:graphicData uri="http://schemas.openxmlformats.org/drawingml/2006/table">
            <a:tbl>
              <a:tblPr/>
              <a:tblGrid>
                <a:gridCol w="2203181">
                  <a:extLst>
                    <a:ext uri="{9D8B030D-6E8A-4147-A177-3AD203B41FA5}">
                      <a16:colId xmlns:a16="http://schemas.microsoft.com/office/drawing/2014/main" val="3949830656"/>
                    </a:ext>
                  </a:extLst>
                </a:gridCol>
                <a:gridCol w="2203181">
                  <a:extLst>
                    <a:ext uri="{9D8B030D-6E8A-4147-A177-3AD203B41FA5}">
                      <a16:colId xmlns:a16="http://schemas.microsoft.com/office/drawing/2014/main" val="2724025347"/>
                    </a:ext>
                  </a:extLst>
                </a:gridCol>
                <a:gridCol w="2203181">
                  <a:extLst>
                    <a:ext uri="{9D8B030D-6E8A-4147-A177-3AD203B41FA5}">
                      <a16:colId xmlns:a16="http://schemas.microsoft.com/office/drawing/2014/main" val="1419450060"/>
                    </a:ext>
                  </a:extLst>
                </a:gridCol>
                <a:gridCol w="2203181">
                  <a:extLst>
                    <a:ext uri="{9D8B030D-6E8A-4147-A177-3AD203B41FA5}">
                      <a16:colId xmlns:a16="http://schemas.microsoft.com/office/drawing/2014/main" val="1524130019"/>
                    </a:ext>
                  </a:extLst>
                </a:gridCol>
              </a:tblGrid>
              <a:tr h="32601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sphere (球体)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capsule (胶囊体)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box (立方体)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5334"/>
                  </a:ext>
                </a:extLst>
              </a:tr>
              <a:tr h="5588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定义参数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仅需要 半径 r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半径 r + 半长 h (沿着 Z 轴扩展)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三轴半长 (x,y,z)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674672"/>
                  </a:ext>
                </a:extLst>
              </a:tr>
              <a:tr h="807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碰撞检测算法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解析解 (Analytic Solution)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点到线段距离解析解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SAT / GJK / EPA 算法</a:t>
                      </a:r>
                    </a:p>
                  </a:txBody>
                  <a:tcPr marL="0" marR="0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915887"/>
                  </a:ext>
                </a:extLst>
              </a:tr>
              <a:tr h="32601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计算开销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极低 (全场最快)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极低 ~ 低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96954"/>
                  </a:ext>
                </a:extLst>
              </a:tr>
              <a:tr h="807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法线/法向突变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完全连续且光滑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表面光滑，端点圆滑过渡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存在尖锐棱角与顶点（法线不连续）</a:t>
                      </a:r>
                    </a:p>
                  </a:txBody>
                  <a:tcPr marL="0" marR="0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38488"/>
                  </a:ext>
                </a:extLst>
              </a:tr>
              <a:tr h="807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仿真数值稳定性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极高 (不卡顿或抖动)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极高</a:t>
                      </a:r>
                    </a:p>
                  </a:txBody>
                  <a:tcPr marL="46574" marR="46574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CN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较差 (棱角接触易产生力穿透/抖动)</a:t>
                      </a:r>
                    </a:p>
                  </a:txBody>
                  <a:tcPr marL="0" marR="0" marT="31049" marB="310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75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866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4700D0-5346-90B5-B36D-8C4B01AD16A0}"/>
              </a:ext>
            </a:extLst>
          </p:cNvPr>
          <p:cNvSpPr txBox="1"/>
          <p:nvPr/>
        </p:nvSpPr>
        <p:spPr>
          <a:xfrm>
            <a:off x="625794" y="428626"/>
            <a:ext cx="8232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LiDAR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Depth Camera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7734DF-1328-D547-E446-94F033D66600}"/>
              </a:ext>
            </a:extLst>
          </p:cNvPr>
          <p:cNvSpPr txBox="1"/>
          <p:nvPr/>
        </p:nvSpPr>
        <p:spPr>
          <a:xfrm>
            <a:off x="625794" y="1028701"/>
            <a:ext cx="727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环境表示层：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Occupancy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GridTSDF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56EE58-A578-DB1C-1050-E9B26B643942}"/>
              </a:ext>
            </a:extLst>
          </p:cNvPr>
          <p:cNvSpPr txBox="1"/>
          <p:nvPr/>
        </p:nvSpPr>
        <p:spPr>
          <a:xfrm>
            <a:off x="625794" y="1576092"/>
            <a:ext cx="6575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安全评价层：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distance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6BA7A-E2A8-A8E1-52D9-FF42D02FD01A}"/>
              </a:ext>
            </a:extLst>
          </p:cNvPr>
          <p:cNvSpPr txBox="1"/>
          <p:nvPr/>
        </p:nvSpPr>
        <p:spPr>
          <a:xfrm>
            <a:off x="625794" y="2123483"/>
            <a:ext cx="6417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安全控制层：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79ACAF-C533-FA28-A8A8-ECA6E90215EC}"/>
              </a:ext>
            </a:extLst>
          </p:cNvPr>
          <p:cNvSpPr txBox="1"/>
          <p:nvPr/>
        </p:nvSpPr>
        <p:spPr>
          <a:xfrm>
            <a:off x="625795" y="2670874"/>
            <a:ext cx="6575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控制输出层：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FB9D4D-44D4-A15A-7069-B12F014AF310}"/>
              </a:ext>
            </a:extLst>
          </p:cNvPr>
          <p:cNvSpPr txBox="1"/>
          <p:nvPr/>
        </p:nvSpPr>
        <p:spPr>
          <a:xfrm>
            <a:off x="9472613" y="1490366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CBF</a:t>
            </a:r>
            <a:r>
              <a:rPr lang="zh-CN" altLang="en-US" dirty="0"/>
              <a:t>和</a:t>
            </a:r>
            <a:r>
              <a:rPr lang="en-US" altLang="zh-CN" dirty="0"/>
              <a:t>QP</a:t>
            </a:r>
            <a:r>
              <a:rPr lang="zh-CN" altLang="en-US" dirty="0"/>
              <a:t>的关系</a:t>
            </a:r>
          </a:p>
        </p:txBody>
      </p:sp>
    </p:spTree>
    <p:extLst>
      <p:ext uri="{BB962C8B-B14F-4D97-AF65-F5344CB8AC3E}">
        <p14:creationId xmlns:p14="http://schemas.microsoft.com/office/powerpoint/2010/main" val="15681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0378-689F-3AE9-BF37-3F1854000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A5FE766-16EE-2E15-FEA6-1AD1EB687B36}"/>
              </a:ext>
            </a:extLst>
          </p:cNvPr>
          <p:cNvSpPr txBox="1"/>
          <p:nvPr/>
        </p:nvSpPr>
        <p:spPr>
          <a:xfrm>
            <a:off x="625794" y="428626"/>
            <a:ext cx="8232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CBF (Control Barrier Function)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F5EF1-DE10-685E-A43E-36A1C96710E6}"/>
              </a:ext>
            </a:extLst>
          </p:cNvPr>
          <p:cNvSpPr txBox="1"/>
          <p:nvPr/>
        </p:nvSpPr>
        <p:spPr>
          <a:xfrm>
            <a:off x="625794" y="1016669"/>
            <a:ext cx="10996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（控制李雅普诺夫函数）：解决“去哪里”（稳定性和收敛性，例如追踪轨迹、到达终点）。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772551-3ED6-B524-EDDF-71DC89B2CC08}"/>
              </a:ext>
            </a:extLst>
          </p:cNvPr>
          <p:cNvSpPr txBox="1"/>
          <p:nvPr/>
        </p:nvSpPr>
        <p:spPr>
          <a:xfrm>
            <a:off x="10110287" y="290126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CBF</a:t>
            </a:r>
            <a:r>
              <a:rPr lang="zh-CN" altLang="en-US" dirty="0"/>
              <a:t>和</a:t>
            </a:r>
            <a:r>
              <a:rPr lang="en-US" altLang="zh-CN" dirty="0"/>
              <a:t>QP</a:t>
            </a:r>
            <a:r>
              <a:rPr lang="zh-CN" altLang="en-US" dirty="0"/>
              <a:t>的关系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1C2289-7554-E875-E6F1-A8C11B2DFEC4}"/>
              </a:ext>
            </a:extLst>
          </p:cNvPr>
          <p:cNvSpPr txBox="1"/>
          <p:nvPr/>
        </p:nvSpPr>
        <p:spPr>
          <a:xfrm>
            <a:off x="625794" y="1974044"/>
            <a:ext cx="10996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（控制屏障函数）：解决“不能去哪里”（安全性，例如避障、防止倾覆、限制最大速度）。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8FDE33-C272-6001-EE25-F4F852F7916A}"/>
              </a:ext>
            </a:extLst>
          </p:cNvPr>
          <p:cNvSpPr txBox="1"/>
          <p:nvPr/>
        </p:nvSpPr>
        <p:spPr>
          <a:xfrm>
            <a:off x="904451" y="3198167"/>
            <a:ext cx="10996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通过定义一个连续函数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，将状态空间划分为安全区与危险区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18C951-97DE-4644-95BA-118FCCEE14DD}"/>
              </a:ext>
            </a:extLst>
          </p:cNvPr>
          <p:cNvSpPr txBox="1"/>
          <p:nvPr/>
        </p:nvSpPr>
        <p:spPr>
          <a:xfrm>
            <a:off x="904451" y="3924710"/>
            <a:ext cx="10996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当前系统状态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（例如：机器人的当前位置、速度、姿态）</a:t>
            </a:r>
          </a:p>
        </p:txBody>
      </p:sp>
    </p:spTree>
    <p:extLst>
      <p:ext uri="{BB962C8B-B14F-4D97-AF65-F5344CB8AC3E}">
        <p14:creationId xmlns:p14="http://schemas.microsoft.com/office/powerpoint/2010/main" val="424708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878</Words>
  <Application>Microsoft Office PowerPoint</Application>
  <PresentationFormat>宽屏</PresentationFormat>
  <Paragraphs>77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 吴</dc:creator>
  <cp:lastModifiedBy>浩 吴</cp:lastModifiedBy>
  <cp:revision>4</cp:revision>
  <dcterms:created xsi:type="dcterms:W3CDTF">2026-07-29T14:38:34Z</dcterms:created>
  <dcterms:modified xsi:type="dcterms:W3CDTF">2026-08-02T16:21:24Z</dcterms:modified>
</cp:coreProperties>
</file>